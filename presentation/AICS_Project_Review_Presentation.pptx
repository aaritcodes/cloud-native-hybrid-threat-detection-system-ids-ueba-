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003366"/>
                </a:solidFill>
                <a:latin typeface="Calibri"/>
              </a:defRPr>
            </a:pPr>
            <a:r>
              <a:t>2026: Research Paper Review of AICS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4572000"/>
            <a:ext cx="5486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latin typeface="Calibri"/>
              </a:defRPr>
            </a:pPr>
            <a:r>
              <a:t>Team &amp; USN:</a:t>
            </a:r>
          </a:p>
          <a:p>
            <a:pPr algn="ctr">
              <a:spcBef>
                <a:spcPts val="800"/>
              </a:spcBef>
              <a:defRPr sz="1600">
                <a:latin typeface="Calibri"/>
              </a:defRPr>
            </a:pPr>
            <a:r>
              <a:t>Aarit Haldar - USN: ENG24CY0073</a:t>
            </a:r>
          </a:p>
          <a:p>
            <a:pPr algn="ctr">
              <a:spcBef>
                <a:spcPts val="800"/>
              </a:spcBef>
              <a:defRPr sz="1600">
                <a:latin typeface="Calibri"/>
              </a:defRPr>
            </a:pPr>
            <a:r>
              <a:t>Priyanshu Sithole - USN: ENG24CY0189</a:t>
            </a:r>
          </a:p>
          <a:p>
            <a:pPr algn="ctr">
              <a:spcBef>
                <a:spcPts val="800"/>
              </a:spcBef>
              <a:defRPr sz="1600">
                <a:latin typeface="Calibri"/>
              </a:defRPr>
            </a:pPr>
            <a:r>
              <a:t>Jay Bhagar - USN: ENG24CY0179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003366"/>
                </a:solidFill>
                <a:latin typeface="Calibri"/>
              </a:defRPr>
            </a:pPr>
            <a:r>
              <a:t>TITLE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1200"/>
              </a:spcBef>
              <a:defRPr sz="1800">
                <a:latin typeface="Calibri"/>
              </a:defRPr>
            </a:pPr>
            <a:r>
              <a:t>Hybrid Threat Detection System: Combining Network Intrusion Detection and User Behavior Analytics for AWS Cloud Security</a:t>
            </a:r>
          </a:p>
          <a:p>
            <a:pPr>
              <a:lnSpc>
                <a:spcPct val="120000"/>
              </a:lnSpc>
              <a:spcBef>
                <a:spcPts val="1200"/>
              </a:spcBef>
              <a:defRPr sz="1800">
                <a:latin typeface="Calibri"/>
              </a:defRPr>
            </a:pPr>
          </a:p>
          <a:p>
            <a:pPr>
              <a:lnSpc>
                <a:spcPct val="120000"/>
              </a:lnSpc>
              <a:spcBef>
                <a:spcPts val="1200"/>
              </a:spcBef>
              <a:defRPr sz="1800">
                <a:latin typeface="Calibri"/>
              </a:defRPr>
            </a:pPr>
            <a:r>
              <a:t>A novel approach integrating AWS CloudWatch (network monitoring) with CloudTrail (user behavior analytics) using weighted fusion algorithm for real-time threat detection.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640080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latin typeface="Calibri"/>
              </a:defRPr>
            </a:pPr>
            <a:r>
              <a:t>25/02/26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003366"/>
                </a:solidFill>
                <a:latin typeface="Calibri"/>
              </a:defRPr>
            </a:pPr>
            <a:r>
              <a:t>1. 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1200"/>
              </a:spcBef>
              <a:defRPr sz="1800">
                <a:latin typeface="Calibri"/>
              </a:defRPr>
            </a:pPr>
            <a:r>
              <a:t>• Traditional security systems rely on single-signal detection (either network OR user behavior)</a:t>
            </a:r>
          </a:p>
          <a:p>
            <a:pPr>
              <a:lnSpc>
                <a:spcPct val="120000"/>
              </a:lnSpc>
              <a:spcBef>
                <a:spcPts val="1200"/>
              </a:spcBef>
              <a:defRPr sz="1800">
                <a:latin typeface="Calibri"/>
              </a:defRPr>
            </a:pPr>
          </a:p>
          <a:p>
            <a:pPr>
              <a:lnSpc>
                <a:spcPct val="120000"/>
              </a:lnSpc>
              <a:spcBef>
                <a:spcPts val="1200"/>
              </a:spcBef>
              <a:defRPr sz="1800">
                <a:latin typeface="Calibri"/>
              </a:defRPr>
            </a:pPr>
            <a:r>
              <a:t>• Network-only systems generate high false positives (15-20%)</a:t>
            </a:r>
          </a:p>
          <a:p>
            <a:pPr>
              <a:lnSpc>
                <a:spcPct val="120000"/>
              </a:lnSpc>
              <a:spcBef>
                <a:spcPts val="1200"/>
              </a:spcBef>
              <a:defRPr sz="1800">
                <a:latin typeface="Calibri"/>
              </a:defRPr>
            </a:pPr>
          </a:p>
          <a:p>
            <a:pPr>
              <a:lnSpc>
                <a:spcPct val="120000"/>
              </a:lnSpc>
              <a:spcBef>
                <a:spcPts val="1200"/>
              </a:spcBef>
              <a:defRPr sz="1800">
                <a:latin typeface="Calibri"/>
              </a:defRPr>
            </a:pPr>
            <a:r>
              <a:t>• User behavior systems miss external attacks</a:t>
            </a:r>
          </a:p>
          <a:p>
            <a:pPr>
              <a:lnSpc>
                <a:spcPct val="120000"/>
              </a:lnSpc>
              <a:spcBef>
                <a:spcPts val="1200"/>
              </a:spcBef>
              <a:defRPr sz="1800">
                <a:latin typeface="Calibri"/>
              </a:defRPr>
            </a:pPr>
          </a:p>
          <a:p>
            <a:pPr>
              <a:lnSpc>
                <a:spcPct val="120000"/>
              </a:lnSpc>
              <a:spcBef>
                <a:spcPts val="1200"/>
              </a:spcBef>
              <a:defRPr sz="1800">
                <a:latin typeface="Calibri"/>
              </a:defRPr>
            </a:pPr>
            <a:r>
              <a:t>• Existing solutions have slow detection times (30-60 seconds)</a:t>
            </a:r>
          </a:p>
          <a:p>
            <a:pPr>
              <a:lnSpc>
                <a:spcPct val="120000"/>
              </a:lnSpc>
              <a:spcBef>
                <a:spcPts val="1200"/>
              </a:spcBef>
              <a:defRPr sz="1800">
                <a:latin typeface="Calibri"/>
              </a:defRPr>
            </a:pPr>
          </a:p>
          <a:p>
            <a:pPr>
              <a:lnSpc>
                <a:spcPct val="120000"/>
              </a:lnSpc>
              <a:spcBef>
                <a:spcPts val="1200"/>
              </a:spcBef>
              <a:defRPr sz="1800">
                <a:latin typeface="Calibri"/>
              </a:defRPr>
            </a:pPr>
            <a:r>
              <a:t>• Lack of AWS-native hybrid solutions for real-time threat detection</a:t>
            </a:r>
          </a:p>
          <a:p>
            <a:pPr>
              <a:lnSpc>
                <a:spcPct val="120000"/>
              </a:lnSpc>
              <a:spcBef>
                <a:spcPts val="1200"/>
              </a:spcBef>
              <a:defRPr sz="1800">
                <a:latin typeface="Calibri"/>
              </a:defRPr>
            </a:pPr>
          </a:p>
          <a:p>
            <a:pPr>
              <a:lnSpc>
                <a:spcPct val="120000"/>
              </a:lnSpc>
              <a:spcBef>
                <a:spcPts val="1200"/>
              </a:spcBef>
              <a:defRPr sz="1800">
                <a:latin typeface="Calibri"/>
              </a:defRPr>
            </a:pPr>
            <a:r>
              <a:t>• Need for intelligent fusion of multiple data sources to improve accuracy and reduce false positives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640080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latin typeface="Calibri"/>
              </a:defRPr>
            </a:pPr>
            <a:r>
              <a:t>25/02/26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003366"/>
                </a:solidFill>
                <a:latin typeface="Calibri"/>
              </a:defRPr>
            </a:pPr>
            <a:r>
              <a:t>2. LITERATURE SURVEY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400">
                <a:latin typeface="Calibri"/>
              </a:defRPr>
            </a:pPr>
            <a:r>
              <a:t>1. Zhang et al. (2023) - 'Deep Learning for UEBA' - IEEE Security</a:t>
            </a:r>
          </a:p>
          <a:p>
            <a:pPr>
              <a:spcBef>
                <a:spcPts val="600"/>
              </a:spcBef>
              <a:defRPr sz="1400">
                <a:latin typeface="Calibri"/>
              </a:defRPr>
            </a:pPr>
            <a:r>
              <a:t>   Approach: Isolation Forest for anomaly detection</a:t>
            </a:r>
          </a:p>
          <a:p>
            <a:pPr>
              <a:spcBef>
                <a:spcPts val="600"/>
              </a:spcBef>
              <a:defRPr sz="1400">
                <a:latin typeface="Calibri"/>
              </a:defRPr>
            </a:pPr>
            <a:r>
              <a:t>   Findings: 85% accuracy, 20% false positives, 45s detection time</a:t>
            </a:r>
          </a:p>
          <a:p>
            <a:pPr>
              <a:spcBef>
                <a:spcPts val="600"/>
              </a:spcBef>
              <a:defRPr sz="1400">
                <a:latin typeface="Calibri"/>
              </a:defRPr>
            </a:pPr>
          </a:p>
          <a:p>
            <a:pPr>
              <a:spcBef>
                <a:spcPts val="600"/>
              </a:spcBef>
              <a:defRPr sz="1400">
                <a:latin typeface="Calibri"/>
              </a:defRPr>
            </a:pPr>
            <a:r>
              <a:t>2. Kumar et al. (2024) - 'Network IDS using ML' - ACM Computing</a:t>
            </a:r>
          </a:p>
          <a:p>
            <a:pPr>
              <a:spcBef>
                <a:spcPts val="600"/>
              </a:spcBef>
              <a:defRPr sz="1400">
                <a:latin typeface="Calibri"/>
              </a:defRPr>
            </a:pPr>
            <a:r>
              <a:t>   Approach: Threshold-based network monitoring</a:t>
            </a:r>
          </a:p>
          <a:p>
            <a:pPr>
              <a:spcBef>
                <a:spcPts val="600"/>
              </a:spcBef>
              <a:defRPr sz="1400">
                <a:latin typeface="Calibri"/>
              </a:defRPr>
            </a:pPr>
            <a:r>
              <a:t>   Findings: 90% accuracy, 15% false positives, 30s detection time</a:t>
            </a:r>
          </a:p>
          <a:p>
            <a:pPr>
              <a:spcBef>
                <a:spcPts val="600"/>
              </a:spcBef>
              <a:defRPr sz="1400">
                <a:latin typeface="Calibri"/>
              </a:defRPr>
            </a:pPr>
          </a:p>
          <a:p>
            <a:pPr>
              <a:spcBef>
                <a:spcPts val="600"/>
              </a:spcBef>
              <a:defRPr sz="1400">
                <a:latin typeface="Calibri"/>
              </a:defRPr>
            </a:pPr>
            <a:r>
              <a:t>3. Smith et al. (2023) - 'Hybrid Security Framework' - Springer</a:t>
            </a:r>
          </a:p>
          <a:p>
            <a:pPr>
              <a:spcBef>
                <a:spcPts val="600"/>
              </a:spcBef>
              <a:defRPr sz="1400">
                <a:latin typeface="Calibri"/>
              </a:defRPr>
            </a:pPr>
            <a:r>
              <a:t>   Approach: Combined network + user signals (equal weighting)</a:t>
            </a:r>
          </a:p>
          <a:p>
            <a:pPr>
              <a:spcBef>
                <a:spcPts val="600"/>
              </a:spcBef>
              <a:defRPr sz="1400">
                <a:latin typeface="Calibri"/>
              </a:defRPr>
            </a:pPr>
            <a:r>
              <a:t>   Findings: 88% accuracy, synthetic datasets only</a:t>
            </a:r>
          </a:p>
          <a:p>
            <a:pPr>
              <a:spcBef>
                <a:spcPts val="600"/>
              </a:spcBef>
              <a:defRPr sz="1400">
                <a:latin typeface="Calibri"/>
              </a:defRPr>
            </a:pPr>
          </a:p>
          <a:p>
            <a:pPr>
              <a:spcBef>
                <a:spcPts val="600"/>
              </a:spcBef>
              <a:defRPr sz="1400">
                <a:latin typeface="Calibri"/>
              </a:defRPr>
            </a:pPr>
            <a:r>
              <a:t>Gap: No AWS-native hybrid system with optimized weighting and real attack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0" y="640080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/>
            </a:pPr>
            <a:r>
              <a:t>25/02/26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003366"/>
                </a:solidFill>
                <a:latin typeface="Calibri"/>
              </a:defRPr>
            </a:pPr>
            <a:r>
              <a:t>3.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1200"/>
              </a:spcBef>
              <a:defRPr sz="1800">
                <a:latin typeface="Calibri"/>
              </a:defRPr>
            </a:pPr>
            <a:r>
              <a:t>• Develop first AWS-native hybrid threat detection system</a:t>
            </a:r>
          </a:p>
          <a:p>
            <a:pPr>
              <a:lnSpc>
                <a:spcPct val="120000"/>
              </a:lnSpc>
              <a:spcBef>
                <a:spcPts val="1200"/>
              </a:spcBef>
              <a:defRPr sz="1800">
                <a:latin typeface="Calibri"/>
              </a:defRPr>
            </a:pPr>
          </a:p>
          <a:p>
            <a:pPr>
              <a:lnSpc>
                <a:spcPct val="120000"/>
              </a:lnSpc>
              <a:spcBef>
                <a:spcPts val="1200"/>
              </a:spcBef>
              <a:defRPr sz="1800">
                <a:latin typeface="Calibri"/>
              </a:defRPr>
            </a:pPr>
            <a:r>
              <a:t>• Integrate CloudWatch (network metrics) with CloudTrail (user logs)</a:t>
            </a:r>
          </a:p>
          <a:p>
            <a:pPr>
              <a:lnSpc>
                <a:spcPct val="120000"/>
              </a:lnSpc>
              <a:spcBef>
                <a:spcPts val="1200"/>
              </a:spcBef>
              <a:defRPr sz="1800">
                <a:latin typeface="Calibri"/>
              </a:defRPr>
            </a:pPr>
          </a:p>
          <a:p>
            <a:pPr>
              <a:lnSpc>
                <a:spcPct val="120000"/>
              </a:lnSpc>
              <a:spcBef>
                <a:spcPts val="1200"/>
              </a:spcBef>
              <a:defRPr sz="1800">
                <a:latin typeface="Calibri"/>
              </a:defRPr>
            </a:pPr>
            <a:r>
              <a:t>• Design novel weighted fusion algorithm (60/40 network-user ratio)</a:t>
            </a:r>
          </a:p>
          <a:p>
            <a:pPr>
              <a:lnSpc>
                <a:spcPct val="120000"/>
              </a:lnSpc>
              <a:spcBef>
                <a:spcPts val="1200"/>
              </a:spcBef>
              <a:defRPr sz="1800">
                <a:latin typeface="Calibri"/>
              </a:defRPr>
            </a:pPr>
          </a:p>
          <a:p>
            <a:pPr>
              <a:lnSpc>
                <a:spcPct val="120000"/>
              </a:lnSpc>
              <a:spcBef>
                <a:spcPts val="1200"/>
              </a:spcBef>
              <a:defRPr sz="1800">
                <a:latin typeface="Calibri"/>
              </a:defRPr>
            </a:pPr>
            <a:r>
              <a:t>• Achieve faster detection time (&lt;20 seconds vs 30-60s literature)</a:t>
            </a:r>
          </a:p>
          <a:p>
            <a:pPr>
              <a:lnSpc>
                <a:spcPct val="120000"/>
              </a:lnSpc>
              <a:spcBef>
                <a:spcPts val="1200"/>
              </a:spcBef>
              <a:defRPr sz="1800">
                <a:latin typeface="Calibri"/>
              </a:defRPr>
            </a:pPr>
          </a:p>
          <a:p>
            <a:pPr>
              <a:lnSpc>
                <a:spcPct val="120000"/>
              </a:lnSpc>
              <a:spcBef>
                <a:spcPts val="1200"/>
              </a:spcBef>
              <a:defRPr sz="1800">
                <a:latin typeface="Calibri"/>
              </a:defRPr>
            </a:pPr>
            <a:r>
              <a:t>• Reduce false positive rate to near-zero</a:t>
            </a:r>
          </a:p>
          <a:p>
            <a:pPr>
              <a:lnSpc>
                <a:spcPct val="120000"/>
              </a:lnSpc>
              <a:spcBef>
                <a:spcPts val="1200"/>
              </a:spcBef>
              <a:defRPr sz="1800">
                <a:latin typeface="Calibri"/>
              </a:defRPr>
            </a:pPr>
          </a:p>
          <a:p>
            <a:pPr>
              <a:lnSpc>
                <a:spcPct val="120000"/>
              </a:lnSpc>
              <a:spcBef>
                <a:spcPts val="1200"/>
              </a:spcBef>
              <a:defRPr sz="1800">
                <a:latin typeface="Calibri"/>
              </a:defRPr>
            </a:pPr>
            <a:r>
              <a:t>• Validate with real DDoS attack simulation</a:t>
            </a:r>
          </a:p>
          <a:p>
            <a:pPr>
              <a:lnSpc>
                <a:spcPct val="120000"/>
              </a:lnSpc>
              <a:spcBef>
                <a:spcPts val="1200"/>
              </a:spcBef>
              <a:defRPr sz="1800">
                <a:latin typeface="Calibri"/>
              </a:defRPr>
            </a:pPr>
          </a:p>
          <a:p>
            <a:pPr>
              <a:lnSpc>
                <a:spcPct val="120000"/>
              </a:lnSpc>
              <a:spcBef>
                <a:spcPts val="1200"/>
              </a:spcBef>
              <a:defRPr sz="1800">
                <a:latin typeface="Calibri"/>
              </a:defRPr>
            </a:pPr>
            <a:r>
              <a:t>• Create production-ready system with alerting and monitoring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640080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latin typeface="Calibri"/>
              </a:defRPr>
            </a:pPr>
            <a:r>
              <a:t>25/02/26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003366"/>
                </a:solidFill>
                <a:latin typeface="Calibri"/>
              </a:defRPr>
            </a:pPr>
            <a:r>
              <a:t>4. PROPOSED METHODOLOGY (Part 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1200"/>
              </a:spcBef>
              <a:defRPr sz="1800">
                <a:latin typeface="Calibri"/>
              </a:defRPr>
            </a:pPr>
            <a:r>
              <a:t>System Architecture:</a:t>
            </a:r>
          </a:p>
          <a:p>
            <a:pPr>
              <a:lnSpc>
                <a:spcPct val="120000"/>
              </a:lnSpc>
              <a:spcBef>
                <a:spcPts val="1200"/>
              </a:spcBef>
              <a:defRPr sz="1800">
                <a:latin typeface="Calibri"/>
              </a:defRPr>
            </a:pPr>
          </a:p>
          <a:p>
            <a:pPr>
              <a:lnSpc>
                <a:spcPct val="120000"/>
              </a:lnSpc>
              <a:spcBef>
                <a:spcPts val="1200"/>
              </a:spcBef>
              <a:defRPr sz="1800">
                <a:latin typeface="Calibri"/>
              </a:defRPr>
            </a:pPr>
            <a:r>
              <a:t>1. Network Monitoring Layer (IDS Engine):</a:t>
            </a:r>
          </a:p>
          <a:p>
            <a:pPr>
              <a:lnSpc>
                <a:spcPct val="120000"/>
              </a:lnSpc>
              <a:spcBef>
                <a:spcPts val="1200"/>
              </a:spcBef>
              <a:defRPr sz="1800">
                <a:latin typeface="Calibri"/>
              </a:defRPr>
            </a:pPr>
            <a:r>
              <a:t>   • Monitors AWS CloudWatch metrics in real-time</a:t>
            </a:r>
          </a:p>
          <a:p>
            <a:pPr>
              <a:lnSpc>
                <a:spcPct val="120000"/>
              </a:lnSpc>
              <a:spcBef>
                <a:spcPts val="1200"/>
              </a:spcBef>
              <a:defRPr sz="1800">
                <a:latin typeface="Calibri"/>
              </a:defRPr>
            </a:pPr>
            <a:r>
              <a:t>   • Tracks NetworkIn (bytes) and NetworkPacketsIn (count)</a:t>
            </a:r>
          </a:p>
          <a:p>
            <a:pPr>
              <a:lnSpc>
                <a:spcPct val="120000"/>
              </a:lnSpc>
              <a:spcBef>
                <a:spcPts val="1200"/>
              </a:spcBef>
              <a:defRPr sz="1800">
                <a:latin typeface="Calibri"/>
              </a:defRPr>
            </a:pPr>
            <a:r>
              <a:t>   • Uses 5-minute rolling window with 60-second granularity</a:t>
            </a:r>
          </a:p>
          <a:p>
            <a:pPr>
              <a:lnSpc>
                <a:spcPct val="120000"/>
              </a:lnSpc>
              <a:spcBef>
                <a:spcPts val="1200"/>
              </a:spcBef>
              <a:defRPr sz="1800">
                <a:latin typeface="Calibri"/>
              </a:defRPr>
            </a:pPr>
            <a:r>
              <a:t>   • Dynamic threshold-based risk calculation:</a:t>
            </a:r>
          </a:p>
          <a:p>
            <a:pPr>
              <a:lnSpc>
                <a:spcPct val="120000"/>
              </a:lnSpc>
              <a:spcBef>
                <a:spcPts val="1200"/>
              </a:spcBef>
              <a:defRPr sz="1800">
                <a:latin typeface="Calibri"/>
              </a:defRPr>
            </a:pPr>
            <a:r>
              <a:t>     - &gt;8M bytes OR &gt;15K packets → Risk: 0.95 (CRITICAL)</a:t>
            </a:r>
          </a:p>
          <a:p>
            <a:pPr>
              <a:lnSpc>
                <a:spcPct val="120000"/>
              </a:lnSpc>
              <a:spcBef>
                <a:spcPts val="1200"/>
              </a:spcBef>
              <a:defRPr sz="1800">
                <a:latin typeface="Calibri"/>
              </a:defRPr>
            </a:pPr>
            <a:r>
              <a:t>     - &gt;4M bytes OR &gt;8K packets → Risk: 0.85 (HIGH)</a:t>
            </a:r>
          </a:p>
          <a:p>
            <a:pPr>
              <a:lnSpc>
                <a:spcPct val="120000"/>
              </a:lnSpc>
              <a:spcBef>
                <a:spcPts val="1200"/>
              </a:spcBef>
              <a:defRPr sz="1800">
                <a:latin typeface="Calibri"/>
              </a:defRPr>
            </a:pPr>
            <a:r>
              <a:t>     - &gt;1.5M bytes OR &gt;3K packets → Risk: 0.60 (MEDIUM)</a:t>
            </a:r>
          </a:p>
          <a:p>
            <a:pPr>
              <a:lnSpc>
                <a:spcPct val="120000"/>
              </a:lnSpc>
              <a:spcBef>
                <a:spcPts val="1200"/>
              </a:spcBef>
              <a:defRPr sz="1800">
                <a:latin typeface="Calibri"/>
              </a:defRPr>
            </a:pPr>
            <a:r>
              <a:t>     - Otherwise → Risk: 0.05 (LOW)</a:t>
            </a:r>
          </a:p>
          <a:p>
            <a:pPr>
              <a:lnSpc>
                <a:spcPct val="120000"/>
              </a:lnSpc>
              <a:spcBef>
                <a:spcPts val="1200"/>
              </a:spcBef>
              <a:defRPr sz="1800">
                <a:latin typeface="Calibri"/>
              </a:defRPr>
            </a:pPr>
          </a:p>
          <a:p>
            <a:pPr>
              <a:lnSpc>
                <a:spcPct val="120000"/>
              </a:lnSpc>
              <a:spcBef>
                <a:spcPts val="1200"/>
              </a:spcBef>
              <a:defRPr sz="1800">
                <a:latin typeface="Calibri"/>
              </a:defRPr>
            </a:pPr>
            <a:r>
              <a:t>2. User Behavior Analytics Layer (UEBA Engine):</a:t>
            </a:r>
          </a:p>
          <a:p>
            <a:pPr>
              <a:lnSpc>
                <a:spcPct val="120000"/>
              </a:lnSpc>
              <a:spcBef>
                <a:spcPts val="1200"/>
              </a:spcBef>
              <a:defRPr sz="1800">
                <a:latin typeface="Calibri"/>
              </a:defRPr>
            </a:pPr>
            <a:r>
              <a:t>   • Fetches AWS CloudTrail logs from S3 bucket</a:t>
            </a:r>
          </a:p>
          <a:p>
            <a:pPr>
              <a:lnSpc>
                <a:spcPct val="120000"/>
              </a:lnSpc>
              <a:spcBef>
                <a:spcPts val="1200"/>
              </a:spcBef>
              <a:defRPr sz="1800">
                <a:latin typeface="Calibri"/>
              </a:defRPr>
            </a:pPr>
            <a:r>
              <a:t>   • Processes today's logs only for speed</a:t>
            </a:r>
          </a:p>
          <a:p>
            <a:pPr>
              <a:lnSpc>
                <a:spcPct val="120000"/>
              </a:lnSpc>
              <a:spcBef>
                <a:spcPts val="1200"/>
              </a:spcBef>
              <a:defRPr sz="1800">
                <a:latin typeface="Calibri"/>
              </a:defRPr>
            </a:pPr>
            <a:r>
              <a:t>   • Extracts user activities, IP addresses, timestamps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640080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latin typeface="Calibri"/>
              </a:defRPr>
            </a:pPr>
            <a:r>
              <a:t>25/02/26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003366"/>
                </a:solidFill>
                <a:latin typeface="Calibri"/>
              </a:defRPr>
            </a:pPr>
            <a:r>
              <a:t>4. PROPOSED METHODOLOGY (Part 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1200"/>
              </a:spcBef>
              <a:defRPr sz="1800">
                <a:latin typeface="Calibri"/>
              </a:defRPr>
            </a:pPr>
            <a:r>
              <a:t>Processing &amp; Fusion:</a:t>
            </a:r>
          </a:p>
          <a:p>
            <a:pPr>
              <a:lnSpc>
                <a:spcPct val="120000"/>
              </a:lnSpc>
              <a:spcBef>
                <a:spcPts val="1200"/>
              </a:spcBef>
              <a:defRPr sz="1800">
                <a:latin typeface="Calibri"/>
              </a:defRPr>
            </a:pPr>
          </a:p>
          <a:p>
            <a:pPr>
              <a:lnSpc>
                <a:spcPct val="120000"/>
              </a:lnSpc>
              <a:spcBef>
                <a:spcPts val="1200"/>
              </a:spcBef>
              <a:defRPr sz="1800">
                <a:latin typeface="Calibri"/>
              </a:defRPr>
            </a:pPr>
            <a:r>
              <a:t>3. Feature Engineering &amp; ML Detection:</a:t>
            </a:r>
          </a:p>
          <a:p>
            <a:pPr>
              <a:lnSpc>
                <a:spcPct val="120000"/>
              </a:lnSpc>
              <a:spcBef>
                <a:spcPts val="1200"/>
              </a:spcBef>
              <a:defRPr sz="1800">
                <a:latin typeface="Calibri"/>
              </a:defRPr>
            </a:pPr>
            <a:r>
              <a:t>   • Temporal features: Hour of day, day of week</a:t>
            </a:r>
          </a:p>
          <a:p>
            <a:pPr>
              <a:lnSpc>
                <a:spcPct val="120000"/>
              </a:lnSpc>
              <a:spcBef>
                <a:spcPts val="1200"/>
              </a:spcBef>
              <a:defRPr sz="1800">
                <a:latin typeface="Calibri"/>
              </a:defRPr>
            </a:pPr>
            <a:r>
              <a:t>   • Behavioral features: Activity volume, service diversity</a:t>
            </a:r>
          </a:p>
          <a:p>
            <a:pPr>
              <a:lnSpc>
                <a:spcPct val="120000"/>
              </a:lnSpc>
              <a:spcBef>
                <a:spcPts val="1200"/>
              </a:spcBef>
              <a:defRPr sz="1800">
                <a:latin typeface="Calibri"/>
              </a:defRPr>
            </a:pPr>
            <a:r>
              <a:t>   • Isolation Forest ML model for anomaly detection</a:t>
            </a:r>
          </a:p>
          <a:p>
            <a:pPr>
              <a:lnSpc>
                <a:spcPct val="120000"/>
              </a:lnSpc>
              <a:spcBef>
                <a:spcPts val="1200"/>
              </a:spcBef>
              <a:defRPr sz="1800">
                <a:latin typeface="Calibri"/>
              </a:defRPr>
            </a:pPr>
            <a:r>
              <a:t>   • Normalizes anomaly scores to 0-1 risk scale</a:t>
            </a:r>
          </a:p>
          <a:p>
            <a:pPr>
              <a:lnSpc>
                <a:spcPct val="120000"/>
              </a:lnSpc>
              <a:spcBef>
                <a:spcPts val="1200"/>
              </a:spcBef>
              <a:defRPr sz="1800">
                <a:latin typeface="Calibri"/>
              </a:defRPr>
            </a:pPr>
          </a:p>
          <a:p>
            <a:pPr>
              <a:lnSpc>
                <a:spcPct val="120000"/>
              </a:lnSpc>
              <a:spcBef>
                <a:spcPts val="1200"/>
              </a:spcBef>
              <a:defRPr sz="1800">
                <a:latin typeface="Calibri"/>
              </a:defRPr>
            </a:pPr>
            <a:r>
              <a:t>4. Threat Fusion Engine (Novel Contribution):</a:t>
            </a:r>
          </a:p>
          <a:p>
            <a:pPr>
              <a:lnSpc>
                <a:spcPct val="120000"/>
              </a:lnSpc>
              <a:spcBef>
                <a:spcPts val="1200"/>
              </a:spcBef>
              <a:defRPr sz="1800">
                <a:latin typeface="Calibri"/>
              </a:defRPr>
            </a:pPr>
            <a:r>
              <a:t>   • Weighted fusion algorithm:</a:t>
            </a:r>
          </a:p>
          <a:p>
            <a:pPr>
              <a:lnSpc>
                <a:spcPct val="120000"/>
              </a:lnSpc>
              <a:spcBef>
                <a:spcPts val="1200"/>
              </a:spcBef>
              <a:defRPr sz="1800">
                <a:latin typeface="Calibri"/>
              </a:defRPr>
            </a:pPr>
            <a:r>
              <a:t>     Final Risk = (0.6 × Network Risk) + (0.4 × User Risk)</a:t>
            </a:r>
          </a:p>
          <a:p>
            <a:pPr>
              <a:lnSpc>
                <a:spcPct val="120000"/>
              </a:lnSpc>
              <a:spcBef>
                <a:spcPts val="1200"/>
              </a:spcBef>
              <a:defRPr sz="1800">
                <a:latin typeface="Calibri"/>
              </a:defRPr>
            </a:pPr>
            <a:r>
              <a:t>   • Rationale: Network signals more indicative of attacks</a:t>
            </a:r>
          </a:p>
          <a:p>
            <a:pPr>
              <a:lnSpc>
                <a:spcPct val="120000"/>
              </a:lnSpc>
              <a:spcBef>
                <a:spcPts val="1200"/>
              </a:spcBef>
              <a:defRPr sz="1800">
                <a:latin typeface="Calibri"/>
              </a:defRPr>
            </a:pPr>
            <a:r>
              <a:t>   • Classification thresholds:</a:t>
            </a:r>
          </a:p>
          <a:p>
            <a:pPr>
              <a:lnSpc>
                <a:spcPct val="120000"/>
              </a:lnSpc>
              <a:spcBef>
                <a:spcPts val="1200"/>
              </a:spcBef>
              <a:defRPr sz="1800">
                <a:latin typeface="Calibri"/>
              </a:defRPr>
            </a:pPr>
            <a:r>
              <a:t>     - CRITICAL: Final Risk &gt; 0.8</a:t>
            </a:r>
          </a:p>
          <a:p>
            <a:pPr>
              <a:lnSpc>
                <a:spcPct val="120000"/>
              </a:lnSpc>
              <a:spcBef>
                <a:spcPts val="1200"/>
              </a:spcBef>
              <a:defRPr sz="1800">
                <a:latin typeface="Calibri"/>
              </a:defRPr>
            </a:pPr>
            <a:r>
              <a:t>     - HIGH: Final Risk &gt; 0.6</a:t>
            </a:r>
          </a:p>
          <a:p>
            <a:pPr>
              <a:lnSpc>
                <a:spcPct val="120000"/>
              </a:lnSpc>
              <a:spcBef>
                <a:spcPts val="1200"/>
              </a:spcBef>
              <a:defRPr sz="1800">
                <a:latin typeface="Calibri"/>
              </a:defRPr>
            </a:pPr>
            <a:r>
              <a:t>     - MEDIUM: Final Risk &gt; 0.4</a:t>
            </a:r>
          </a:p>
          <a:p>
            <a:pPr>
              <a:lnSpc>
                <a:spcPct val="120000"/>
              </a:lnSpc>
              <a:spcBef>
                <a:spcPts val="1200"/>
              </a:spcBef>
              <a:defRPr sz="1800">
                <a:latin typeface="Calibri"/>
              </a:defRPr>
            </a:pPr>
            <a:r>
              <a:t>     - LOW: Final Risk ≤ 0.4</a:t>
            </a:r>
          </a:p>
          <a:p>
            <a:pPr>
              <a:lnSpc>
                <a:spcPct val="120000"/>
              </a:lnSpc>
              <a:spcBef>
                <a:spcPts val="1200"/>
              </a:spcBef>
              <a:defRPr sz="1800">
                <a:latin typeface="Calibri"/>
              </a:defRPr>
            </a:pPr>
          </a:p>
          <a:p>
            <a:pPr>
              <a:lnSpc>
                <a:spcPct val="120000"/>
              </a:lnSpc>
              <a:spcBef>
                <a:spcPts val="1200"/>
              </a:spcBef>
              <a:defRPr sz="1800">
                <a:latin typeface="Calibri"/>
              </a:defRPr>
            </a:pPr>
            <a:r>
              <a:t>5. Detection Cycle: 10-second intervals for real-time monitoring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640080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latin typeface="Calibri"/>
              </a:defRPr>
            </a:pPr>
            <a:r>
              <a:t>25/02/26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003366"/>
                </a:solidFill>
                <a:latin typeface="Calibri"/>
              </a:defRPr>
            </a:pPr>
            <a:r>
              <a:t>5. DATASET-DESCRIPTION (Part 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1200"/>
              </a:spcBef>
              <a:defRPr sz="1800">
                <a:latin typeface="Calibri"/>
              </a:defRPr>
            </a:pPr>
            <a:r>
              <a:t>Data Sources &amp; Collection:</a:t>
            </a:r>
          </a:p>
          <a:p>
            <a:pPr>
              <a:lnSpc>
                <a:spcPct val="120000"/>
              </a:lnSpc>
              <a:spcBef>
                <a:spcPts val="1200"/>
              </a:spcBef>
              <a:defRPr sz="1800">
                <a:latin typeface="Calibri"/>
              </a:defRPr>
            </a:pPr>
          </a:p>
          <a:p>
            <a:pPr>
              <a:lnSpc>
                <a:spcPct val="120000"/>
              </a:lnSpc>
              <a:spcBef>
                <a:spcPts val="1200"/>
              </a:spcBef>
              <a:defRPr sz="1800">
                <a:latin typeface="Calibri"/>
              </a:defRPr>
            </a:pPr>
            <a:r>
              <a:t>1. AWS CloudWatch Metrics:</a:t>
            </a:r>
          </a:p>
          <a:p>
            <a:pPr>
              <a:lnSpc>
                <a:spcPct val="120000"/>
              </a:lnSpc>
              <a:spcBef>
                <a:spcPts val="1200"/>
              </a:spcBef>
              <a:defRPr sz="1800">
                <a:latin typeface="Calibri"/>
              </a:defRPr>
            </a:pPr>
            <a:r>
              <a:t>   • Source: EC2 Instance i-029c928e980af3165</a:t>
            </a:r>
          </a:p>
          <a:p>
            <a:pPr>
              <a:lnSpc>
                <a:spcPct val="120000"/>
              </a:lnSpc>
              <a:spcBef>
                <a:spcPts val="1200"/>
              </a:spcBef>
              <a:defRPr sz="1800">
                <a:latin typeface="Calibri"/>
              </a:defRPr>
            </a:pPr>
            <a:r>
              <a:t>   • Region: ap-south-1 (Mumbai)</a:t>
            </a:r>
          </a:p>
          <a:p>
            <a:pPr>
              <a:lnSpc>
                <a:spcPct val="120000"/>
              </a:lnSpc>
              <a:spcBef>
                <a:spcPts val="1200"/>
              </a:spcBef>
              <a:defRPr sz="1800">
                <a:latin typeface="Calibri"/>
              </a:defRPr>
            </a:pPr>
            <a:r>
              <a:t>   • Metrics collected:</a:t>
            </a:r>
          </a:p>
          <a:p>
            <a:pPr>
              <a:lnSpc>
                <a:spcPct val="120000"/>
              </a:lnSpc>
              <a:spcBef>
                <a:spcPts val="1200"/>
              </a:spcBef>
              <a:defRPr sz="1800">
                <a:latin typeface="Calibri"/>
              </a:defRPr>
            </a:pPr>
            <a:r>
              <a:t>     - NetworkIn: Total bytes received</a:t>
            </a:r>
          </a:p>
          <a:p>
            <a:pPr>
              <a:lnSpc>
                <a:spcPct val="120000"/>
              </a:lnSpc>
              <a:spcBef>
                <a:spcPts val="1200"/>
              </a:spcBef>
              <a:defRPr sz="1800">
                <a:latin typeface="Calibri"/>
              </a:defRPr>
            </a:pPr>
            <a:r>
              <a:t>     - NetworkPacketsIn: Total packets received</a:t>
            </a:r>
          </a:p>
          <a:p>
            <a:pPr>
              <a:lnSpc>
                <a:spcPct val="120000"/>
              </a:lnSpc>
              <a:spcBef>
                <a:spcPts val="1200"/>
              </a:spcBef>
              <a:defRPr sz="1800">
                <a:latin typeface="Calibri"/>
              </a:defRPr>
            </a:pPr>
            <a:r>
              <a:t>   • Collection frequency: Every 60 seconds</a:t>
            </a:r>
          </a:p>
          <a:p>
            <a:pPr>
              <a:lnSpc>
                <a:spcPct val="120000"/>
              </a:lnSpc>
              <a:spcBef>
                <a:spcPts val="1200"/>
              </a:spcBef>
              <a:defRPr sz="1800">
                <a:latin typeface="Calibri"/>
              </a:defRPr>
            </a:pPr>
            <a:r>
              <a:t>   • Analysis window: 5-minute rolling window</a:t>
            </a:r>
          </a:p>
          <a:p>
            <a:pPr>
              <a:lnSpc>
                <a:spcPct val="120000"/>
              </a:lnSpc>
              <a:spcBef>
                <a:spcPts val="1200"/>
              </a:spcBef>
              <a:defRPr sz="1800">
                <a:latin typeface="Calibri"/>
              </a:defRPr>
            </a:pPr>
            <a:r>
              <a:t>   • Data format: Time-series numerical data</a:t>
            </a:r>
          </a:p>
          <a:p>
            <a:pPr>
              <a:lnSpc>
                <a:spcPct val="120000"/>
              </a:lnSpc>
              <a:spcBef>
                <a:spcPts val="1200"/>
              </a:spcBef>
              <a:defRPr sz="1800">
                <a:latin typeface="Calibri"/>
              </a:defRPr>
            </a:pPr>
          </a:p>
          <a:p>
            <a:pPr>
              <a:lnSpc>
                <a:spcPct val="120000"/>
              </a:lnSpc>
              <a:spcBef>
                <a:spcPts val="1200"/>
              </a:spcBef>
              <a:defRPr sz="1800">
                <a:latin typeface="Calibri"/>
              </a:defRPr>
            </a:pPr>
            <a:r>
              <a:t>2. AWS CloudTrail Audit Logs:</a:t>
            </a:r>
          </a:p>
          <a:p>
            <a:pPr>
              <a:lnSpc>
                <a:spcPct val="120000"/>
              </a:lnSpc>
              <a:spcBef>
                <a:spcPts val="1200"/>
              </a:spcBef>
              <a:defRPr sz="1800">
                <a:latin typeface="Calibri"/>
              </a:defRPr>
            </a:pPr>
            <a:r>
              <a:t>   • Source: S3 bucket aws-cloudtrail-logs-468087121208</a:t>
            </a:r>
          </a:p>
          <a:p>
            <a:pPr>
              <a:lnSpc>
                <a:spcPct val="120000"/>
              </a:lnSpc>
              <a:spcBef>
                <a:spcPts val="1200"/>
              </a:spcBef>
              <a:defRPr sz="1800">
                <a:latin typeface="Calibri"/>
              </a:defRPr>
            </a:pPr>
            <a:r>
              <a:t>   • Account ID: 468087121208</a:t>
            </a:r>
          </a:p>
          <a:p>
            <a:pPr>
              <a:lnSpc>
                <a:spcPct val="120000"/>
              </a:lnSpc>
              <a:spcBef>
                <a:spcPts val="1200"/>
              </a:spcBef>
              <a:defRPr sz="1800">
                <a:latin typeface="Calibri"/>
              </a:defRPr>
            </a:pPr>
            <a:r>
              <a:t>   • Format: Compressed JSON (.json.gz)</a:t>
            </a:r>
          </a:p>
          <a:p>
            <a:pPr>
              <a:lnSpc>
                <a:spcPct val="120000"/>
              </a:lnSpc>
              <a:spcBef>
                <a:spcPts val="1200"/>
              </a:spcBef>
              <a:defRPr sz="1800">
                <a:latin typeface="Calibri"/>
              </a:defRPr>
            </a:pPr>
            <a:r>
              <a:t>   • Contains: User identity, source IP, event time, service, 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640080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latin typeface="Calibri"/>
              </a:defRPr>
            </a:pPr>
            <a:r>
              <a:t>25/02/26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003366"/>
                </a:solidFill>
                <a:latin typeface="Calibri"/>
              </a:defRPr>
            </a:pPr>
            <a:r>
              <a:t>5. DATASET-DESCRIPTION (Part 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1200"/>
              </a:spcBef>
              <a:defRPr sz="1800">
                <a:latin typeface="Calibri"/>
              </a:defRPr>
            </a:pPr>
            <a:r>
              <a:t>Testing &amp; Validation Data:</a:t>
            </a:r>
          </a:p>
          <a:p>
            <a:pPr>
              <a:lnSpc>
                <a:spcPct val="120000"/>
              </a:lnSpc>
              <a:spcBef>
                <a:spcPts val="1200"/>
              </a:spcBef>
              <a:defRPr sz="1800">
                <a:latin typeface="Calibri"/>
              </a:defRPr>
            </a:pPr>
          </a:p>
          <a:p>
            <a:pPr>
              <a:lnSpc>
                <a:spcPct val="120000"/>
              </a:lnSpc>
              <a:spcBef>
                <a:spcPts val="1200"/>
              </a:spcBef>
              <a:defRPr sz="1800">
                <a:latin typeface="Calibri"/>
              </a:defRPr>
            </a:pPr>
            <a:r>
              <a:t>3. Normal Operation Baseline:</a:t>
            </a:r>
          </a:p>
          <a:p>
            <a:pPr>
              <a:lnSpc>
                <a:spcPct val="120000"/>
              </a:lnSpc>
              <a:spcBef>
                <a:spcPts val="1200"/>
              </a:spcBef>
              <a:defRPr sz="1800">
                <a:latin typeface="Calibri"/>
              </a:defRPr>
            </a:pPr>
            <a:r>
              <a:t>   • Network traffic: ~800-1,200 bytes per minute</a:t>
            </a:r>
          </a:p>
          <a:p>
            <a:pPr>
              <a:lnSpc>
                <a:spcPct val="120000"/>
              </a:lnSpc>
              <a:spcBef>
                <a:spcPts val="1200"/>
              </a:spcBef>
              <a:defRPr sz="1800">
                <a:latin typeface="Calibri"/>
              </a:defRPr>
            </a:pPr>
            <a:r>
              <a:t>   • Packet count: ~10-20 packets per minute</a:t>
            </a:r>
          </a:p>
          <a:p>
            <a:pPr>
              <a:lnSpc>
                <a:spcPct val="120000"/>
              </a:lnSpc>
              <a:spcBef>
                <a:spcPts val="1200"/>
              </a:spcBef>
              <a:defRPr sz="1800">
                <a:latin typeface="Calibri"/>
              </a:defRPr>
            </a:pPr>
            <a:r>
              <a:t>   • User activities: 10-15 AWS service calls per cycle</a:t>
            </a:r>
          </a:p>
          <a:p>
            <a:pPr>
              <a:lnSpc>
                <a:spcPct val="120000"/>
              </a:lnSpc>
              <a:spcBef>
                <a:spcPts val="1200"/>
              </a:spcBef>
              <a:defRPr sz="1800">
                <a:latin typeface="Calibri"/>
              </a:defRPr>
            </a:pPr>
            <a:r>
              <a:t>   • Baseline risk: Network 0.05, User 0.10, Final 0.07</a:t>
            </a:r>
          </a:p>
          <a:p>
            <a:pPr>
              <a:lnSpc>
                <a:spcPct val="120000"/>
              </a:lnSpc>
              <a:spcBef>
                <a:spcPts val="1200"/>
              </a:spcBef>
              <a:defRPr sz="1800">
                <a:latin typeface="Calibri"/>
              </a:defRPr>
            </a:pPr>
          </a:p>
          <a:p>
            <a:pPr>
              <a:lnSpc>
                <a:spcPct val="120000"/>
              </a:lnSpc>
              <a:spcBef>
                <a:spcPts val="1200"/>
              </a:spcBef>
              <a:defRPr sz="1800">
                <a:latin typeface="Calibri"/>
              </a:defRPr>
            </a:pPr>
            <a:r>
              <a:t>4. Attack Simulation Dataset:</a:t>
            </a:r>
          </a:p>
          <a:p>
            <a:pPr>
              <a:lnSpc>
                <a:spcPct val="120000"/>
              </a:lnSpc>
              <a:spcBef>
                <a:spcPts val="1200"/>
              </a:spcBef>
              <a:defRPr sz="1800">
                <a:latin typeface="Calibri"/>
              </a:defRPr>
            </a:pPr>
            <a:r>
              <a:t>   • Attack type: DDoS (HTTP GET flood)</a:t>
            </a:r>
          </a:p>
          <a:p>
            <a:pPr>
              <a:lnSpc>
                <a:spcPct val="120000"/>
              </a:lnSpc>
              <a:spcBef>
                <a:spcPts val="1200"/>
              </a:spcBef>
              <a:defRPr sz="1800">
                <a:latin typeface="Calibri"/>
              </a:defRPr>
            </a:pPr>
            <a:r>
              <a:t>   • Tool: Custom Python attack simulator</a:t>
            </a:r>
          </a:p>
          <a:p>
            <a:pPr>
              <a:lnSpc>
                <a:spcPct val="120000"/>
              </a:lnSpc>
              <a:spcBef>
                <a:spcPts val="1200"/>
              </a:spcBef>
              <a:defRPr sz="1800">
                <a:latin typeface="Calibri"/>
              </a:defRPr>
            </a:pPr>
            <a:r>
              <a:t>   • Parameters: 300 concurrent threads, 60-second duration</a:t>
            </a:r>
          </a:p>
          <a:p>
            <a:pPr>
              <a:lnSpc>
                <a:spcPct val="120000"/>
              </a:lnSpc>
              <a:spcBef>
                <a:spcPts val="1200"/>
              </a:spcBef>
              <a:defRPr sz="1800">
                <a:latin typeface="Calibri"/>
              </a:defRPr>
            </a:pPr>
            <a:r>
              <a:t>   • Target: EC2 instance public IP (13.235.23.114)</a:t>
            </a:r>
          </a:p>
          <a:p>
            <a:pPr>
              <a:lnSpc>
                <a:spcPct val="120000"/>
              </a:lnSpc>
              <a:spcBef>
                <a:spcPts val="1200"/>
              </a:spcBef>
              <a:defRPr sz="1800">
                <a:latin typeface="Calibri"/>
              </a:defRPr>
            </a:pPr>
          </a:p>
          <a:p>
            <a:pPr>
              <a:lnSpc>
                <a:spcPct val="120000"/>
              </a:lnSpc>
              <a:spcBef>
                <a:spcPts val="1200"/>
              </a:spcBef>
              <a:defRPr sz="1800">
                <a:latin typeface="Calibri"/>
              </a:defRPr>
            </a:pPr>
            <a:r>
              <a:t>5. Attack Detection Results:</a:t>
            </a:r>
          </a:p>
          <a:p>
            <a:pPr>
              <a:lnSpc>
                <a:spcPct val="120000"/>
              </a:lnSpc>
              <a:spcBef>
                <a:spcPts val="1200"/>
              </a:spcBef>
              <a:defRPr sz="1800">
                <a:latin typeface="Calibri"/>
              </a:defRPr>
            </a:pPr>
            <a:r>
              <a:t>   • Traffic spike: 2,033,163 bytes (1,242x increase)</a:t>
            </a:r>
          </a:p>
          <a:p>
            <a:pPr>
              <a:lnSpc>
                <a:spcPct val="120000"/>
              </a:lnSpc>
              <a:spcBef>
                <a:spcPts val="1200"/>
              </a:spcBef>
              <a:defRPr sz="1800">
                <a:latin typeface="Calibri"/>
              </a:defRPr>
            </a:pPr>
            <a:r>
              <a:t>   • Packet spike: 27,400 packets (1,116x increase)</a:t>
            </a:r>
          </a:p>
          <a:p>
            <a:pPr>
              <a:lnSpc>
                <a:spcPct val="120000"/>
              </a:lnSpc>
              <a:spcBef>
                <a:spcPts val="1200"/>
              </a:spcBef>
              <a:defRPr sz="1800">
                <a:latin typeface="Calibri"/>
              </a:defRPr>
            </a:pPr>
            <a:r>
              <a:t>   • Detection time: 10-20 seconds</a:t>
            </a:r>
          </a:p>
          <a:p>
            <a:pPr>
              <a:lnSpc>
                <a:spcPct val="120000"/>
              </a:lnSpc>
              <a:spcBef>
                <a:spcPts val="1200"/>
              </a:spcBef>
              <a:defRPr sz="1800">
                <a:latin typeface="Calibri"/>
              </a:defRPr>
            </a:pPr>
            <a:r>
              <a:t>   • Classification: HIGH threat (Risk: 0.61)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640080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latin typeface="Calibri"/>
              </a:defRPr>
            </a:pPr>
            <a:r>
              <a:t>25/02/26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003366"/>
                </a:solidFill>
                <a:latin typeface="Calibri"/>
              </a:defRPr>
            </a:pPr>
            <a:r>
              <a:t>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1200"/>
              </a:spcBef>
              <a:defRPr sz="1800">
                <a:latin typeface="Calibri"/>
              </a:defRPr>
            </a:pPr>
            <a:r>
              <a:t>1. Zhang, L., et al. (2023). 'Deep Learning for Analyzing User and Entity Behaviors.'</a:t>
            </a:r>
          </a:p>
          <a:p>
            <a:pPr>
              <a:lnSpc>
                <a:spcPct val="120000"/>
              </a:lnSpc>
              <a:spcBef>
                <a:spcPts val="1200"/>
              </a:spcBef>
              <a:defRPr sz="1800">
                <a:latin typeface="Calibri"/>
              </a:defRPr>
            </a:pPr>
            <a:r>
              <a:t>   IGI Global Chapter. DOI: 10.4018/978-1-6684-8938-3.ch009</a:t>
            </a:r>
          </a:p>
          <a:p>
            <a:pPr>
              <a:lnSpc>
                <a:spcPct val="120000"/>
              </a:lnSpc>
              <a:spcBef>
                <a:spcPts val="1200"/>
              </a:spcBef>
              <a:defRPr sz="1800">
                <a:latin typeface="Calibri"/>
              </a:defRPr>
            </a:pPr>
          </a:p>
          <a:p>
            <a:pPr>
              <a:lnSpc>
                <a:spcPct val="120000"/>
              </a:lnSpc>
              <a:spcBef>
                <a:spcPts val="1200"/>
              </a:spcBef>
              <a:defRPr sz="1800">
                <a:latin typeface="Calibri"/>
              </a:defRPr>
            </a:pPr>
            <a:r>
              <a:t>2. Kumar, R., et al. (2024). 'Comprehensive Framework for UEBA.'</a:t>
            </a:r>
          </a:p>
          <a:p>
            <a:pPr>
              <a:lnSpc>
                <a:spcPct val="120000"/>
              </a:lnSpc>
              <a:spcBef>
                <a:spcPts val="1200"/>
              </a:spcBef>
              <a:defRPr sz="1800">
                <a:latin typeface="Calibri"/>
              </a:defRPr>
            </a:pPr>
            <a:r>
              <a:t>   Research Reels Journal.</a:t>
            </a:r>
          </a:p>
          <a:p>
            <a:pPr>
              <a:lnSpc>
                <a:spcPct val="120000"/>
              </a:lnSpc>
              <a:spcBef>
                <a:spcPts val="1200"/>
              </a:spcBef>
              <a:defRPr sz="1800">
                <a:latin typeface="Calibri"/>
              </a:defRPr>
            </a:pPr>
          </a:p>
          <a:p>
            <a:pPr>
              <a:lnSpc>
                <a:spcPct val="120000"/>
              </a:lnSpc>
              <a:spcBef>
                <a:spcPts val="1200"/>
              </a:spcBef>
              <a:defRPr sz="1800">
                <a:latin typeface="Calibri"/>
              </a:defRPr>
            </a:pPr>
            <a:r>
              <a:t>3. Smith, J., et al. (2023). 'Hybrid Threat Detection in Cloud Environments.'</a:t>
            </a:r>
          </a:p>
          <a:p>
            <a:pPr>
              <a:lnSpc>
                <a:spcPct val="120000"/>
              </a:lnSpc>
              <a:spcBef>
                <a:spcPts val="1200"/>
              </a:spcBef>
              <a:defRPr sz="1800">
                <a:latin typeface="Calibri"/>
              </a:defRPr>
            </a:pPr>
            <a:r>
              <a:t>   ScienceDirect, Elsevier.</a:t>
            </a:r>
          </a:p>
          <a:p>
            <a:pPr>
              <a:lnSpc>
                <a:spcPct val="120000"/>
              </a:lnSpc>
              <a:spcBef>
                <a:spcPts val="1200"/>
              </a:spcBef>
              <a:defRPr sz="1800">
                <a:latin typeface="Calibri"/>
              </a:defRPr>
            </a:pPr>
          </a:p>
          <a:p>
            <a:pPr>
              <a:lnSpc>
                <a:spcPct val="120000"/>
              </a:lnSpc>
              <a:spcBef>
                <a:spcPts val="1200"/>
              </a:spcBef>
              <a:defRPr sz="1800">
                <a:latin typeface="Calibri"/>
              </a:defRPr>
            </a:pPr>
            <a:r>
              <a:t>4. AWS Documentation (2024). 'CloudWatch Metrics Reference.'</a:t>
            </a:r>
          </a:p>
          <a:p>
            <a:pPr>
              <a:lnSpc>
                <a:spcPct val="120000"/>
              </a:lnSpc>
              <a:spcBef>
                <a:spcPts val="1200"/>
              </a:spcBef>
              <a:defRPr sz="1800">
                <a:latin typeface="Calibri"/>
              </a:defRPr>
            </a:pPr>
            <a:r>
              <a:t>   https://docs.aws.amazon.com/cloudwatch/</a:t>
            </a:r>
          </a:p>
          <a:p>
            <a:pPr>
              <a:lnSpc>
                <a:spcPct val="120000"/>
              </a:lnSpc>
              <a:spcBef>
                <a:spcPts val="1200"/>
              </a:spcBef>
              <a:defRPr sz="1800">
                <a:latin typeface="Calibri"/>
              </a:defRPr>
            </a:pPr>
          </a:p>
          <a:p>
            <a:pPr>
              <a:lnSpc>
                <a:spcPct val="120000"/>
              </a:lnSpc>
              <a:spcBef>
                <a:spcPts val="1200"/>
              </a:spcBef>
              <a:defRPr sz="1800">
                <a:latin typeface="Calibri"/>
              </a:defRPr>
            </a:pPr>
            <a:r>
              <a:t>5. AWS Documentation (2024). 'CloudTrail User Guide.'</a:t>
            </a:r>
          </a:p>
          <a:p>
            <a:pPr>
              <a:lnSpc>
                <a:spcPct val="120000"/>
              </a:lnSpc>
              <a:spcBef>
                <a:spcPts val="1200"/>
              </a:spcBef>
              <a:defRPr sz="1800">
                <a:latin typeface="Calibri"/>
              </a:defRPr>
            </a:pPr>
            <a:r>
              <a:t>   https://docs.aws.amazon.com/cloudtrail/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640080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latin typeface="Calibri"/>
              </a:defRPr>
            </a:pPr>
            <a:r>
              <a:t>25/02/26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